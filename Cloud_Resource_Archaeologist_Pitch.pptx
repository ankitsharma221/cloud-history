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4619d68246c4062" /><Relationship Type="http://schemas.openxmlformats.org/package/2006/relationships/metadata/core-properties" Target="/docProps/core.xml" Id="Ref18597f913c451a" /><Relationship Type="http://schemas.openxmlformats.org/officeDocument/2006/relationships/extended-properties" Target="/docProps/app.xml" Id="R1924a49d0edd4d1e" /><Relationship Type="http://schemas.openxmlformats.org/officeDocument/2006/relationships/custom-properties" Target="/docProps/custom.xml" Id="Rd29beb3e15604b6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b90e85c96b64439b"/>
    <p:sldId id="257" r:id="R1ddee58d22274ff1"/>
    <p:sldId id="258" r:id="R94d13a2d8e464183"/>
    <p:sldId id="259" r:id="R7217361226ca487f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90e85c96b64439b" /><Relationship Type="http://schemas.openxmlformats.org/officeDocument/2006/relationships/slide" Target="/ppt/slides/slide2.xml" Id="R1ddee58d22274ff1" /><Relationship Type="http://schemas.openxmlformats.org/officeDocument/2006/relationships/slide" Target="/ppt/slides/slide3.xml" Id="R94d13a2d8e464183" /><Relationship Type="http://schemas.openxmlformats.org/officeDocument/2006/relationships/slide" Target="/ppt/slides/slide4.xml" Id="R7217361226ca487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54d58f98ad41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d2cbf88e4b4e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442e1dace14b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b34cf08f7747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38bc97ab9e45d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45f1a95c81a049f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814668e424a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8decdddab42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4f4f145f840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74d643b7a4d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000" name="Badge"/>
          <p:cNvSpPr txBox="1"/>
          <p:nvPr/>
        </p:nvSpPr>
        <p:spPr>
          <a:xfrm xmlns:a="http://schemas.openxmlformats.org/drawingml/2006/main">
            <a:off x="720000" y="720000"/>
            <a:ext cx="10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38BDF8"/>
                </a:solidFill>
              </a:rPr>
              <a:t>ENTERPRISE CLOUD GOVERNANCE &amp; PROVENANCE</a:t>
            </a:r>
          </a:p>
        </p:txBody>
      </p:sp>
      <p:sp>
        <p:nvSpPr>
          <p:cNvPr id="100001" name="Title"/>
          <p:cNvSpPr txBox="1"/>
          <p:nvPr/>
        </p:nvSpPr>
        <p:spPr>
          <a:xfrm xmlns:a="http://schemas.openxmlformats.org/drawingml/2006/main">
            <a:off x="720000" y="1152000"/>
            <a:ext cx="10080000" cy="10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FFFFFF"/>
                </a:solidFill>
              </a:rPr>
              <a:t>Cloud Resource Archaeologist</a:t>
            </a:r>
          </a:p>
        </p:txBody>
      </p:sp>
      <p:sp>
        <p:nvSpPr>
          <p:cNvPr id="100002" name="Subtitle"/>
          <p:cNvSpPr txBox="1"/>
          <p:nvPr/>
        </p:nvSpPr>
        <p:spPr>
          <a:xfrm xmlns:a="http://schemas.openxmlformats.org/drawingml/2006/main">
            <a:off x="720000" y="2232000"/>
            <a:ext cx="1008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94A3B8"/>
                </a:solidFill>
              </a:rPr>
              <a:t>Know why every cloud resource exists. Retire it safely with zero fear.</a:t>
            </a:r>
          </a:p>
        </p:txBody>
      </p:sp>
      <p:sp>
        <p:nvSpPr>
          <p:cNvPr id="100003" name="ProblemBox"/>
          <p:cNvSpPr txBox="1"/>
          <p:nvPr/>
        </p:nvSpPr>
        <p:spPr>
          <a:xfrm xmlns:a="http://schemas.openxmlformats.org/drawingml/2006/main">
            <a:off x="720000" y="3168000"/>
            <a:ext cx="100800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E2E8F0"/>
                </a:solidFill>
              </a:rPr>
              <a:t>THE PROBLEM TODAY:</a:t>
            </a:r>
          </a:p>
          <a:p xmlns:a="http://schemas.openxmlformats.org/drawingml/2006/main">
            <a:r>
              <a:rPr lang="en-US" sz="1600">
                <a:solidFill>
                  <a:srgbClr val="E2E8F0"/>
                </a:solidFill>
              </a:rPr>
              <a:t>• Thousands of orphan servers, databases &amp; disks running in company cloud accounts</a:t>
            </a:r>
          </a:p>
          <a:p xmlns:a="http://schemas.openxmlformats.org/drawingml/2006/main">
            <a:r>
              <a:rPr lang="en-US" sz="1600">
                <a:solidFill>
                  <a:srgbClr val="E2E8F0"/>
                </a:solidFill>
              </a:rPr>
              <a:t>• Nobody knows who created them or why they exist (tickets lost, employees left)</a:t>
            </a:r>
          </a:p>
          <a:p xmlns:a="http://schemas.openxmlformats.org/drawingml/2006/main">
            <a:r>
              <a:rPr lang="en-US" sz="1600">
                <a:solidFill>
                  <a:srgbClr val="E2E8F0"/>
                </a:solidFill>
              </a:rPr>
              <a:t>• Cleanup tools say 'Delete', but teams fear breaking production dependencies</a:t>
            </a:r>
          </a:p>
          <a:p xmlns:a="http://schemas.openxmlformats.org/drawingml/2006/main">
            <a:r>
              <a:rPr lang="en-US" sz="1600">
                <a:solidFill>
                  <a:srgbClr val="E2E8F0"/>
                </a:solidFill>
              </a:rPr>
              <a:t>• Result: Millions wasted annually on zombie cloud infrastructure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4" name="Title"/>
          <p:cNvSpPr txBox="1"/>
          <p:nvPr/>
        </p:nvSpPr>
        <p:spPr>
          <a:xfrm xmlns:a="http://schemas.openxmlformats.org/drawingml/2006/main">
            <a:off x="720000" y="540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293B"/>
                </a:solidFill>
              </a:rPr>
              <a:t>The Solution: Evidence-Based Answers</a:t>
            </a:r>
          </a:p>
        </p:txBody>
      </p:sp>
      <p:sp>
        <p:nvSpPr>
          <p:cNvPr id="100005" name="Card1"/>
          <p:cNvSpPr txBox="1"/>
          <p:nvPr/>
        </p:nvSpPr>
        <p:spPr>
          <a:xfrm xmlns:a="http://schemas.openxmlformats.org/drawingml/2006/main">
            <a:off x="720000" y="1440000"/>
            <a:ext cx="3060000" cy="43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4155"/>
                </a:solidFill>
              </a:rPr>
              <a:t>1. Why does it exist?</a:t>
            </a:r>
          </a:p>
          <a:p xmlns:a="http://schemas.openxmlformats.org/drawingml/2006/main">
            <a:r>
              <a:rPr lang="en-US" sz="1400">
                <a:solidFill>
                  <a:srgbClr val="334155"/>
                </a:solidFill>
              </a:rPr>
              <a:t>(PROVENANCE TIMELINE)</a:t>
            </a:r>
          </a:p>
          <a:p xmlns:a="http://schemas.openxmlformats.org/drawingml/2006/main">
            <a:r>
              <a:rPr lang="en-US" sz="1400">
                <a:solidFill>
                  <a:srgbClr val="334155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334155"/>
                </a:solidFill>
              </a:rPr>
              <a:t>• Stitches evidence from AWS API, CloudTrail, Terraform &amp; GitHub</a:t>
            </a:r>
          </a:p>
          <a:p xmlns:a="http://schemas.openxmlformats.org/drawingml/2006/main">
            <a:r>
              <a:rPr lang="en-US" sz="1400">
                <a:solidFill>
                  <a:srgbClr val="334155"/>
                </a:solidFill>
              </a:rPr>
              <a:t>• Builds chronological story from creation to last commit</a:t>
            </a:r>
          </a:p>
          <a:p xmlns:a="http://schemas.openxmlformats.org/drawingml/2006/main">
            <a:r>
              <a:rPr lang="en-US" sz="1400">
                <a:solidFill>
                  <a:srgbClr val="334155"/>
                </a:solidFill>
              </a:rPr>
              <a:t>• Flags manual drift changes outside CI/CD pipelines</a:t>
            </a:r>
          </a:p>
        </p:txBody>
      </p:sp>
      <p:sp>
        <p:nvSpPr>
          <p:cNvPr id="100006" name="Card2"/>
          <p:cNvSpPr txBox="1"/>
          <p:nvPr/>
        </p:nvSpPr>
        <p:spPr>
          <a:xfrm xmlns:a="http://schemas.openxmlformats.org/drawingml/2006/main">
            <a:off x="4140000" y="1440000"/>
            <a:ext cx="3060000" cy="43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4155"/>
                </a:solidFill>
              </a:rPr>
              <a:t>2. Who owns it?</a:t>
            </a:r>
          </a:p>
          <a:p xmlns:a="http://schemas.openxmlformats.org/drawingml/2006/main">
            <a:r>
              <a:rPr lang="en-US" sz="1400">
                <a:solidFill>
                  <a:srgbClr val="334155"/>
                </a:solidFill>
              </a:rPr>
              <a:t>(OWNER RESOLUTION)</a:t>
            </a:r>
          </a:p>
          <a:p xmlns:a="http://schemas.openxmlformats.org/drawingml/2006/main">
            <a:r>
              <a:rPr lang="en-US" sz="1400">
                <a:solidFill>
                  <a:srgbClr val="334155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334155"/>
                </a:solidFill>
              </a:rPr>
              <a:t>• Creator != Owner (creators leave or change teams)</a:t>
            </a:r>
          </a:p>
          <a:p xmlns:a="http://schemas.openxmlformats.org/drawingml/2006/main">
            <a:r>
              <a:rPr lang="en-US" sz="1400">
                <a:solidFill>
                  <a:srgbClr val="334155"/>
                </a:solidFill>
              </a:rPr>
              <a:t>• 5-tier fallback chain:</a:t>
            </a:r>
          </a:p>
          <a:p xmlns:a="http://schemas.openxmlformats.org/drawingml/2006/main">
            <a:r>
              <a:rPr lang="en-US" sz="1400">
                <a:solidFill>
                  <a:srgbClr val="334155"/>
                </a:solidFill>
              </a:rPr>
              <a:t>  Tag -&gt; CODEOWNERS -&gt; Account Owner -&gt; Creator -&gt; Review</a:t>
            </a:r>
          </a:p>
          <a:p xmlns:a="http://schemas.openxmlformats.org/drawingml/2006/main">
            <a:r>
              <a:rPr lang="en-US" sz="1400">
                <a:solidFill>
                  <a:srgbClr val="334155"/>
                </a:solidFill>
              </a:rPr>
              <a:t>• Explicit HIGH / MEDIUM / LOW confidence rating</a:t>
            </a:r>
          </a:p>
        </p:txBody>
      </p:sp>
      <p:sp>
        <p:nvSpPr>
          <p:cNvPr id="100007" name="Card3"/>
          <p:cNvSpPr txBox="1"/>
          <p:nvPr/>
        </p:nvSpPr>
        <p:spPr>
          <a:xfrm xmlns:a="http://schemas.openxmlformats.org/drawingml/2006/main">
            <a:off x="7560000" y="1440000"/>
            <a:ext cx="3060000" cy="43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4155"/>
                </a:solidFill>
              </a:rPr>
              <a:t>3. Can we delete it?</a:t>
            </a:r>
          </a:p>
          <a:p xmlns:a="http://schemas.openxmlformats.org/drawingml/2006/main">
            <a:r>
              <a:rPr lang="en-US" sz="1400">
                <a:solidFill>
                  <a:srgbClr val="334155"/>
                </a:solidFill>
              </a:rPr>
              <a:t>(RISK VERDICT)</a:t>
            </a:r>
          </a:p>
          <a:p xmlns:a="http://schemas.openxmlformats.org/drawingml/2006/main">
            <a:r>
              <a:rPr lang="en-US" sz="1400">
                <a:solidFill>
                  <a:srgbClr val="334155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334155"/>
                </a:solidFill>
              </a:rPr>
              <a:t>• Evaluates dependencies, traffic history &amp; IaC state</a:t>
            </a:r>
          </a:p>
          <a:p xmlns:a="http://schemas.openxmlformats.org/drawingml/2006/main">
            <a:r>
              <a:rPr lang="en-US" sz="1400">
                <a:solidFill>
                  <a:srgbClr val="334155"/>
                </a:solidFill>
              </a:rPr>
              <a:t>• Thin evidence safeguard: blocks verdict if clues &lt; 2</a:t>
            </a:r>
          </a:p>
          <a:p xmlns:a="http://schemas.openxmlformats.org/drawingml/2006/main">
            <a:r>
              <a:rPr lang="en-US" sz="1400">
                <a:solidFill>
                  <a:srgbClr val="334155"/>
                </a:solidFill>
              </a:rPr>
              <a:t>• Never auto-deletes; requires human owner approval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8" name="Title"/>
          <p:cNvSpPr txBox="1"/>
          <p:nvPr/>
        </p:nvSpPr>
        <p:spPr>
          <a:xfrm xmlns:a="http://schemas.openxmlformats.org/drawingml/2006/main">
            <a:off x="720000" y="540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293B"/>
                </a:solidFill>
              </a:rPr>
              <a:t>The Differentiator: Reversible Quarantine</a:t>
            </a:r>
          </a:p>
        </p:txBody>
      </p:sp>
      <p:sp>
        <p:nvSpPr>
          <p:cNvPr id="100009" name="Subtitle"/>
          <p:cNvSpPr txBox="1"/>
          <p:nvPr/>
        </p:nvSpPr>
        <p:spPr>
          <a:xfrm xmlns:a="http://schemas.openxmlformats.org/drawingml/2006/main">
            <a:off x="720000" y="1260000"/>
            <a:ext cx="10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64748B"/>
                </a:solidFill>
              </a:rPr>
              <a:t>Eliminates the fear of decommissioning by making every step undoable.</a:t>
            </a:r>
          </a:p>
        </p:txBody>
      </p:sp>
      <p:sp>
        <p:nvSpPr>
          <p:cNvPr id="100010" name="Steps"/>
          <p:cNvSpPr txBox="1"/>
          <p:nvPr/>
        </p:nvSpPr>
        <p:spPr>
          <a:xfrm xmlns:a="http://schemas.openxmlformats.org/drawingml/2006/main">
            <a:off x="720000" y="1872000"/>
            <a:ext cx="10080000" cy="39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E293B"/>
                </a:solidFill>
              </a:rPr>
              <a:t>1. EVIDENCE GATHERING: Correlate logs, usage, and IaC dependencies</a:t>
            </a:r>
          </a:p>
          <a:p xmlns:a="http://schemas.openxmlformats.org/drawingml/2006/main">
            <a:r>
              <a:rPr lang="en-US" sz="1600">
                <a:solidFill>
                  <a:srgbClr val="1E293B"/>
                </a:solidFill>
              </a:rPr>
              <a:t>2. OWNER APPROVAL: Present evidence &amp; savings directly to verified team</a:t>
            </a:r>
          </a:p>
          <a:p xmlns:a="http://schemas.openxmlformats.org/drawingml/2006/main">
            <a:r>
              <a:rPr lang="en-US" sz="1600">
                <a:solidFill>
                  <a:srgbClr val="1E293B"/>
                </a:solidFill>
              </a:rPr>
              <a:t>3. PRE-DECOMMISSION SNAPSHOT: Full automated backup created first</a:t>
            </a:r>
          </a:p>
          <a:p xmlns:a="http://schemas.openxmlformats.org/drawingml/2006/main">
            <a:r>
              <a:rPr lang="en-US" sz="1600">
                <a:solidFill>
                  <a:srgbClr val="1E293B"/>
                </a:solidFill>
              </a:rPr>
              <a:t>4. ISOLATE / QUARANTINE: Apply deny-all security group or stop instance</a:t>
            </a:r>
          </a:p>
          <a:p xmlns:a="http://schemas.openxmlformats.org/drawingml/2006/main">
            <a:r>
              <a:rPr lang="en-US" sz="1600">
                <a:solidFill>
                  <a:srgbClr val="1E293B"/>
                </a:solidFill>
              </a:rPr>
              <a:t>5. 14-DAY OBSERVATION WINDOW: Monitor alarms, rejected calls, or user reports</a:t>
            </a:r>
          </a:p>
          <a:p xmlns:a="http://schemas.openxmlformats.org/drawingml/2006/main">
            <a:r>
              <a:rPr lang="en-US" sz="1600">
                <a:solidFill>
                  <a:srgbClr val="1E293B"/>
                </a:solidFill>
              </a:rPr>
              <a:t>6. 1-CLICK ROLLBACK OR DELETE: Restore in 3 minutes if needed, or permanently delete with full audit trail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011" name="Title"/>
          <p:cNvSpPr txBox="1"/>
          <p:nvPr/>
        </p:nvSpPr>
        <p:spPr>
          <a:xfrm xmlns:a="http://schemas.openxmlformats.org/drawingml/2006/main">
            <a:off x="720000" y="540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MVP Scope &amp; Business Impact</a:t>
            </a:r>
          </a:p>
        </p:txBody>
      </p:sp>
      <p:sp>
        <p:nvSpPr>
          <p:cNvPr id="100012" name="ScopeCol"/>
          <p:cNvSpPr txBox="1"/>
          <p:nvPr/>
        </p:nvSpPr>
        <p:spPr>
          <a:xfrm xmlns:a="http://schemas.openxmlformats.org/drawingml/2006/main">
            <a:off x="720000" y="1440000"/>
            <a:ext cx="4860000" cy="43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E2E8F0"/>
                </a:solidFill>
              </a:rPr>
              <a:t>MVP SCOPE:</a:t>
            </a:r>
          </a:p>
          <a:p xmlns:a="http://schemas.openxmlformats.org/drawingml/2006/main">
            <a:r>
              <a:rPr lang="en-US" sz="1500">
                <a:solidFill>
                  <a:srgbClr val="E2E8F0"/>
                </a:solidFill>
              </a:rPr>
              <a:t>• AWS EC2, EBS Volumes &amp; Security Groups</a:t>
            </a:r>
          </a:p>
          <a:p xmlns:a="http://schemas.openxmlformats.org/drawingml/2006/main">
            <a:r>
              <a:rPr lang="en-US" sz="1500">
                <a:solidFill>
                  <a:srgbClr val="E2E8F0"/>
                </a:solidFill>
              </a:rPr>
              <a:t>• Terraform State &amp; GitHub PR attribution</a:t>
            </a:r>
          </a:p>
          <a:p xmlns:a="http://schemas.openxmlformats.org/drawingml/2006/main">
            <a:r>
              <a:rPr lang="en-US" sz="1500">
                <a:solidFill>
                  <a:srgbClr val="E2E8F0"/>
                </a:solidFill>
              </a:rPr>
              <a:t>• CloudTrail &amp; CloudWatch metrics ingestion</a:t>
            </a:r>
          </a:p>
          <a:p xmlns:a="http://schemas.openxmlformats.org/drawingml/2006/main">
            <a:r>
              <a:rPr lang="en-US" sz="1500">
                <a:solidFill>
                  <a:srgbClr val="E2E8F0"/>
                </a:solidFill>
              </a:rPr>
              <a:t>• SQLite / PostgreSQL audit storage</a:t>
            </a:r>
          </a:p>
          <a:p xmlns:a="http://schemas.openxmlformats.org/drawingml/2006/main">
            <a:r>
              <a:rPr lang="en-US" sz="1500">
                <a:solidFill>
                  <a:srgbClr val="E2E8F0"/>
                </a:solidFill>
              </a:rPr>
              <a:t>• FastAPI REST engine &amp; Streamlit Web UI</a:t>
            </a:r>
          </a:p>
          <a:p xmlns:a="http://schemas.openxmlformats.org/drawingml/2006/main">
            <a:r>
              <a:rPr lang="en-US" sz="1500">
                <a:solidFill>
                  <a:srgbClr val="E2E8F0"/>
                </a:solidFill>
              </a:rPr>
              <a:t>• Watsonx / ICA AI Agent interface</a:t>
            </a:r>
          </a:p>
        </p:txBody>
      </p:sp>
      <p:sp>
        <p:nvSpPr>
          <p:cNvPr id="100013" name="ValueCol"/>
          <p:cNvSpPr txBox="1"/>
          <p:nvPr/>
        </p:nvSpPr>
        <p:spPr>
          <a:xfrm xmlns:a="http://schemas.openxmlformats.org/drawingml/2006/main">
            <a:off x="5940000" y="1440000"/>
            <a:ext cx="4860000" cy="43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8BDF8"/>
                </a:solidFill>
              </a:rPr>
              <a:t>BUSINESS VALUE:</a:t>
            </a:r>
          </a:p>
          <a:p xmlns:a="http://schemas.openxmlformats.org/drawingml/2006/main">
            <a:r>
              <a:rPr lang="en-US" sz="1500">
                <a:solidFill>
                  <a:srgbClr val="38BDF8"/>
                </a:solidFill>
              </a:rPr>
              <a:t>• 20% to 40% monthly cloud cost reduction</a:t>
            </a:r>
          </a:p>
          <a:p xmlns:a="http://schemas.openxmlformats.org/drawingml/2006/main">
            <a:r>
              <a:rPr lang="en-US" sz="1500">
                <a:solidFill>
                  <a:srgbClr val="38BDF8"/>
                </a:solidFill>
              </a:rPr>
              <a:t>• Zero accidental outages via reversible rollback</a:t>
            </a:r>
          </a:p>
          <a:p xmlns:a="http://schemas.openxmlformats.org/drawingml/2006/main">
            <a:r>
              <a:rPr lang="en-US" sz="1500">
                <a:solidFill>
                  <a:srgbClr val="38BDF8"/>
                </a:solidFill>
              </a:rPr>
              <a:t>• Hours saved per investigation (automated vs manual)</a:t>
            </a:r>
          </a:p>
          <a:p xmlns:a="http://schemas.openxmlformats.org/drawingml/2006/main">
            <a:r>
              <a:rPr lang="en-US" sz="1500">
                <a:solidFill>
                  <a:srgbClr val="38BDF8"/>
                </a:solidFill>
              </a:rPr>
              <a:t>• Ground-truth feedback loop improves accuracy over time</a:t>
            </a:r>
          </a:p>
          <a:p xmlns:a="http://schemas.openxmlformats.org/drawingml/2006/main">
            <a:r>
              <a:rPr lang="en-US" sz="1500">
                <a:solidFill>
                  <a:srgbClr val="38BDF8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38BDF8"/>
                </a:solidFill>
              </a:rPr>
              <a:t>STATUS: 100% Working Prototype Ready for Demo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2026-10-15T08:17:47Z</dcterms:created>
  <cp:lastModifiedBy>OfficeCLI</cp:lastModifiedBy>
  <dcterms:modified xsi:type="dcterms:W3CDTF">2026-10-15T08:17:47Z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1.0.144</vt:lpwstr>
  </op:property>
  <op:property fmtid="{D5CDD505-2E9C-101B-9397-08002B2CF9AE}" pid="3" name="OfficeCLI.LastModified">
    <vt:lpwstr xmlns:vt="http://schemas.openxmlformats.org/officeDocument/2006/docPropsVTypes">2026-10-15T08:17:47Z</vt:lpwstr>
  </op:property>
</op:Properties>
</file>